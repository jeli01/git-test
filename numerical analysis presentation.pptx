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58" r:id="rId3"/>
    <p:sldId id="278" r:id="rId4"/>
    <p:sldId id="279" r:id="rId5"/>
    <p:sldId id="280" r:id="rId6"/>
    <p:sldId id="281" r:id="rId7"/>
    <p:sldId id="282" r:id="rId8"/>
    <p:sldId id="257" r:id="rId9"/>
    <p:sldId id="269" r:id="rId10"/>
    <p:sldId id="270" r:id="rId11"/>
    <p:sldId id="272" r:id="rId12"/>
    <p:sldId id="271" r:id="rId13"/>
    <p:sldId id="273" r:id="rId14"/>
    <p:sldId id="274" r:id="rId15"/>
    <p:sldId id="27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50FF"/>
    <a:srgbClr val="7E72FA"/>
    <a:srgbClr val="E6EAF3"/>
    <a:srgbClr val="FC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86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6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7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26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0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54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96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11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1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05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48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07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2023. 5. 28.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5425056" y="2470371"/>
            <a:ext cx="4358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54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P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ermutation 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atrices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5352030" y="2213534"/>
            <a:ext cx="0" cy="2268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83E8C32-1FBE-6134-D183-39693B99C7D5}"/>
              </a:ext>
            </a:extLst>
          </p:cNvPr>
          <p:cNvSpPr txBox="1"/>
          <p:nvPr/>
        </p:nvSpPr>
        <p:spPr>
          <a:xfrm>
            <a:off x="1752603" y="2470371"/>
            <a:ext cx="3312772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60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Kim</a:t>
            </a:r>
          </a:p>
          <a:p>
            <a:pPr algn="r">
              <a:defRPr/>
            </a:pPr>
            <a:r>
              <a:rPr lang="en-US" altLang="ko-KR" sz="44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HEE</a:t>
            </a:r>
            <a:r>
              <a:rPr lang="en-US" altLang="ko-KR" sz="46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ea typeface="Tmon몬소리 Black" panose="02000A03000000000000" pitchFamily="2" charset="-127"/>
              </a:rPr>
              <a:t>WON</a:t>
            </a:r>
            <a:endParaRPr lang="ko-KR" altLang="en-US" sz="4600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20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About Permutation Matrices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177CBE-CC25-5912-155A-49DE161E636F}"/>
              </a:ext>
            </a:extLst>
          </p:cNvPr>
          <p:cNvSpPr txBox="1"/>
          <p:nvPr/>
        </p:nvSpPr>
        <p:spPr>
          <a:xfrm>
            <a:off x="273844" y="1322420"/>
            <a:ext cx="115582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" altLang="ko-Kore-KR" sz="2000" dirty="0"/>
              <a:t>Permutation Matrix</a:t>
            </a:r>
            <a:r>
              <a:rPr lang="ko-KR" altLang="en-US" sz="2000" dirty="0"/>
              <a:t> </a:t>
            </a:r>
            <a:r>
              <a:rPr lang="en" altLang="ko-Kore-KR" sz="2000" dirty="0"/>
              <a:t>is a square matrix made up of only ones and zeros and each row and column have exactly one 1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AA7521-D5D5-6182-0293-C85FE8DB9BEF}"/>
                  </a:ext>
                </a:extLst>
              </p:cNvPr>
              <p:cNvSpPr txBox="1"/>
              <p:nvPr/>
            </p:nvSpPr>
            <p:spPr>
              <a:xfrm>
                <a:off x="1059253" y="3037077"/>
                <a:ext cx="2148289" cy="1790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4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AA7521-D5D5-6182-0293-C85FE8DB9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53" y="3037077"/>
                <a:ext cx="2148289" cy="1790618"/>
              </a:xfrm>
              <a:prstGeom prst="rect">
                <a:avLst/>
              </a:prstGeom>
              <a:blipFill>
                <a:blip r:embed="rId2"/>
                <a:stretch>
                  <a:fillRect l="-6471" r="-6471" b="-1056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A057B-AF6C-5F05-3117-82A3D3A1BB80}"/>
                  </a:ext>
                </a:extLst>
              </p:cNvPr>
              <p:cNvSpPr txBox="1"/>
              <p:nvPr/>
            </p:nvSpPr>
            <p:spPr>
              <a:xfrm>
                <a:off x="4825186" y="3047521"/>
                <a:ext cx="2148289" cy="1849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4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A057B-AF6C-5F05-3117-82A3D3A1B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186" y="3047521"/>
                <a:ext cx="2148289" cy="1849032"/>
              </a:xfrm>
              <a:prstGeom prst="rect">
                <a:avLst/>
              </a:prstGeom>
              <a:blipFill>
                <a:blip r:embed="rId3"/>
                <a:stretch>
                  <a:fillRect l="-7059" t="-685" r="-6471" b="-684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1F5F5F-060B-4AF8-538F-E18D75F66FF9}"/>
                  </a:ext>
                </a:extLst>
              </p:cNvPr>
              <p:cNvSpPr txBox="1"/>
              <p:nvPr/>
            </p:nvSpPr>
            <p:spPr>
              <a:xfrm>
                <a:off x="9071415" y="3105935"/>
                <a:ext cx="1520328" cy="1790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4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1F5F5F-060B-4AF8-538F-E18D75F66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415" y="3105935"/>
                <a:ext cx="1520328" cy="1790618"/>
              </a:xfrm>
              <a:prstGeom prst="rect">
                <a:avLst/>
              </a:prstGeom>
              <a:blipFill>
                <a:blip r:embed="rId4"/>
                <a:stretch>
                  <a:fillRect l="-1667" r="-1667" b="-1056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E6EEA1-BA71-9D1B-5E53-23623B7925B1}"/>
              </a:ext>
            </a:extLst>
          </p:cNvPr>
          <p:cNvSpPr txBox="1"/>
          <p:nvPr/>
        </p:nvSpPr>
        <p:spPr>
          <a:xfrm>
            <a:off x="575327" y="5073915"/>
            <a:ext cx="311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2400" b="1" dirty="0"/>
              <a:t>Permutation Matrix</a:t>
            </a:r>
            <a:endParaRPr kumimoji="1" lang="ko-Kore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BB482-9F4C-2056-78A4-CADC84A13BE7}"/>
              </a:ext>
            </a:extLst>
          </p:cNvPr>
          <p:cNvSpPr txBox="1"/>
          <p:nvPr/>
        </p:nvSpPr>
        <p:spPr>
          <a:xfrm>
            <a:off x="4148974" y="5046641"/>
            <a:ext cx="373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ore-KR" sz="2400" b="1" dirty="0"/>
              <a:t>Not </a:t>
            </a:r>
            <a:r>
              <a:rPr lang="en" altLang="ko-Kore-KR" sz="2400" b="1" dirty="0"/>
              <a:t>Permutation Matrix</a:t>
            </a:r>
            <a:endParaRPr kumimoji="1" lang="ko-Kore-KR" alt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2D3F70-4746-E767-ACD6-0CC2C326B8C8}"/>
              </a:ext>
            </a:extLst>
          </p:cNvPr>
          <p:cNvSpPr txBox="1"/>
          <p:nvPr/>
        </p:nvSpPr>
        <p:spPr>
          <a:xfrm>
            <a:off x="4529972" y="5473728"/>
            <a:ext cx="2992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Two ones</a:t>
            </a:r>
            <a:r>
              <a:rPr kumimoji="1" lang="ko-KR" altLang="en-US" dirty="0"/>
              <a:t> </a:t>
            </a:r>
            <a:r>
              <a:rPr kumimoji="1" lang="en-US" altLang="ko-Kore-KR" dirty="0"/>
              <a:t>exist at row1</a:t>
            </a:r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EFC45-0BF4-91BA-60FC-F49D75B4AAAE}"/>
              </a:ext>
            </a:extLst>
          </p:cNvPr>
          <p:cNvSpPr txBox="1"/>
          <p:nvPr/>
        </p:nvSpPr>
        <p:spPr>
          <a:xfrm>
            <a:off x="8095256" y="5023996"/>
            <a:ext cx="373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ore-KR" sz="2400" b="1" dirty="0"/>
              <a:t>Not </a:t>
            </a:r>
            <a:r>
              <a:rPr lang="en" altLang="ko-Kore-KR" sz="2400" b="1" dirty="0"/>
              <a:t>Permutation Matrix</a:t>
            </a:r>
            <a:endParaRPr kumimoji="1" lang="ko-Kore-KR" alt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C5174-9371-F483-A677-C4C66670E81F}"/>
              </a:ext>
            </a:extLst>
          </p:cNvPr>
          <p:cNvSpPr txBox="1"/>
          <p:nvPr/>
        </p:nvSpPr>
        <p:spPr>
          <a:xfrm>
            <a:off x="8572085" y="5513419"/>
            <a:ext cx="251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1800" dirty="0"/>
              <a:t>Matrix</a:t>
            </a:r>
            <a:r>
              <a:rPr lang="ko-KR" altLang="en-US" sz="1800" dirty="0"/>
              <a:t> </a:t>
            </a:r>
            <a:r>
              <a:rPr lang="en" altLang="ko-Kore-KR" sz="1800" dirty="0"/>
              <a:t>is not a square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222590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About Permutation Matrices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177CBE-CC25-5912-155A-49DE161E636F}"/>
              </a:ext>
            </a:extLst>
          </p:cNvPr>
          <p:cNvSpPr txBox="1"/>
          <p:nvPr/>
        </p:nvSpPr>
        <p:spPr>
          <a:xfrm>
            <a:off x="273844" y="1322420"/>
            <a:ext cx="115582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" altLang="ko-Kore-KR" sz="2000" dirty="0"/>
              <a:t>Permutation matrices are similar to the identity matrix in that when you multiply by it, the values don’t change </a:t>
            </a:r>
          </a:p>
          <a:p>
            <a:pPr>
              <a:defRPr/>
            </a:pPr>
            <a:endParaRPr lang="en" altLang="ko-Kore-KR" sz="2000" dirty="0"/>
          </a:p>
          <a:p>
            <a:pPr>
              <a:defRPr/>
            </a:pPr>
            <a:r>
              <a:rPr lang="en" altLang="ko-Kore-KR" sz="2000" dirty="0"/>
              <a:t>Permutation matrices are different to the identity matrix in that they rearrange the rows or the columns of the matrix.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pic>
        <p:nvPicPr>
          <p:cNvPr id="14" name="그림 13" descr="폰트, 화이트, 타이포그래피이(가) 표시된 사진&#10;&#10;자동 생성된 설명">
            <a:extLst>
              <a:ext uri="{FF2B5EF4-FFF2-40B4-BE49-F238E27FC236}">
                <a16:creationId xmlns:a16="http://schemas.microsoft.com/office/drawing/2014/main" id="{8ECFF1D1-4DE4-8A1C-5279-C0E3888C7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31" y="4934581"/>
            <a:ext cx="5639839" cy="1631215"/>
          </a:xfrm>
          <a:prstGeom prst="rect">
            <a:avLst/>
          </a:prstGeom>
        </p:spPr>
      </p:pic>
      <p:pic>
        <p:nvPicPr>
          <p:cNvPr id="16" name="그림 15" descr="폰트, 화이트, 친필, 타이포그래피이(가) 표시된 사진&#10;&#10;자동 생성된 설명">
            <a:extLst>
              <a:ext uri="{FF2B5EF4-FFF2-40B4-BE49-F238E27FC236}">
                <a16:creationId xmlns:a16="http://schemas.microsoft.com/office/drawing/2014/main" id="{49B00772-6649-4580-CDDA-E69E32615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4" y="3235805"/>
            <a:ext cx="5666326" cy="16312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F71ABDA-B1A8-16B9-1CBC-F9A8CC10BF0A}"/>
              </a:ext>
            </a:extLst>
          </p:cNvPr>
          <p:cNvSpPr txBox="1"/>
          <p:nvPr/>
        </p:nvSpPr>
        <p:spPr>
          <a:xfrm>
            <a:off x="6052978" y="3705860"/>
            <a:ext cx="2410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400" b="1" dirty="0"/>
              <a:t>identity matrix </a:t>
            </a:r>
            <a:endParaRPr lang="ko-Kore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7BCA0D-56B5-0A9A-F82A-3C84FD1C25FB}"/>
              </a:ext>
            </a:extLst>
          </p:cNvPr>
          <p:cNvSpPr txBox="1"/>
          <p:nvPr/>
        </p:nvSpPr>
        <p:spPr>
          <a:xfrm>
            <a:off x="6095998" y="5519355"/>
            <a:ext cx="3416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400" b="1" dirty="0"/>
              <a:t>Permutation matrices</a:t>
            </a:r>
            <a:endParaRPr lang="ko-Kore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2990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How to use Permutation Matrices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177CBE-CC25-5912-155A-49DE161E636F}"/>
              </a:ext>
            </a:extLst>
          </p:cNvPr>
          <p:cNvSpPr txBox="1"/>
          <p:nvPr/>
        </p:nvSpPr>
        <p:spPr>
          <a:xfrm>
            <a:off x="273844" y="1046998"/>
            <a:ext cx="115582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" altLang="ko-Kore-KR" sz="2000" dirty="0"/>
              <a:t>𝑃 × 𝐴 is a row permutation </a:t>
            </a:r>
          </a:p>
          <a:p>
            <a:pPr>
              <a:defRPr/>
            </a:pPr>
            <a:r>
              <a:rPr lang="en" altLang="ko-Kore-KR" sz="2000" dirty="0"/>
              <a:t>• This will rearrange the rows of A </a:t>
            </a:r>
          </a:p>
          <a:p>
            <a:pPr>
              <a:defRPr/>
            </a:pPr>
            <a:endParaRPr lang="en" altLang="ko-Kore-KR" sz="2000" dirty="0"/>
          </a:p>
          <a:p>
            <a:pPr>
              <a:defRPr/>
            </a:pPr>
            <a:r>
              <a:rPr lang="en" altLang="ko-Kore-KR" sz="2000" dirty="0"/>
              <a:t>If 𝑃 is a row permutation matrix, </a:t>
            </a:r>
          </a:p>
          <a:p>
            <a:pPr>
              <a:defRPr/>
            </a:pPr>
            <a:r>
              <a:rPr lang="en" altLang="ko-Kore-KR" sz="2000" dirty="0"/>
              <a:t>Then, if 𝑃𝑖.𝑗 = 1, row 𝑗 is moved to row 𝑖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EB2815-F8CD-3B4D-40EA-C8F5DBC76A23}"/>
              </a:ext>
            </a:extLst>
          </p:cNvPr>
          <p:cNvSpPr txBox="1"/>
          <p:nvPr/>
        </p:nvSpPr>
        <p:spPr>
          <a:xfrm>
            <a:off x="726322" y="5442331"/>
            <a:ext cx="51166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000" dirty="0"/>
              <a:t>𝑝1,2 = 1, so row 2 goes to row 1 </a:t>
            </a:r>
          </a:p>
          <a:p>
            <a:r>
              <a:rPr lang="en" altLang="ko-Kore-KR" sz="2000" dirty="0"/>
              <a:t>𝑝2,</a:t>
            </a:r>
            <a:r>
              <a:rPr lang="en-US" altLang="ko-KR" sz="2000" dirty="0"/>
              <a:t>1</a:t>
            </a:r>
            <a:r>
              <a:rPr lang="en" altLang="ko-Kore-KR" sz="2000" dirty="0"/>
              <a:t> = 1, so row </a:t>
            </a:r>
            <a:r>
              <a:rPr lang="en-US" altLang="ko-KR" sz="2000" dirty="0"/>
              <a:t>1</a:t>
            </a:r>
            <a:r>
              <a:rPr lang="en" altLang="ko-Kore-KR" sz="2000" dirty="0"/>
              <a:t> goes to row </a:t>
            </a:r>
            <a:r>
              <a:rPr lang="en-US" altLang="ko-KR" sz="2000" dirty="0"/>
              <a:t>2</a:t>
            </a:r>
            <a:endParaRPr lang="en" altLang="ko-Kore-KR" sz="2000" dirty="0"/>
          </a:p>
          <a:p>
            <a:r>
              <a:rPr lang="en" altLang="ko-Kore-KR" sz="2000" dirty="0"/>
              <a:t>𝑝3,</a:t>
            </a:r>
            <a:r>
              <a:rPr lang="en-US" altLang="ko-KR" sz="2000" dirty="0"/>
              <a:t>3</a:t>
            </a:r>
            <a:r>
              <a:rPr lang="en" altLang="ko-Kore-KR" sz="2000" dirty="0"/>
              <a:t>= 1, so row </a:t>
            </a:r>
            <a:r>
              <a:rPr lang="en-US" altLang="ko-KR" sz="2000" dirty="0"/>
              <a:t>3</a:t>
            </a:r>
            <a:r>
              <a:rPr lang="en" altLang="ko-Kore-KR" sz="2000" dirty="0"/>
              <a:t> goes to row 3 </a:t>
            </a:r>
            <a:endParaRPr lang="ko-Kore-KR" altLang="en-US" sz="2000" dirty="0"/>
          </a:p>
        </p:txBody>
      </p:sp>
      <p:pic>
        <p:nvPicPr>
          <p:cNvPr id="26" name="그림 25" descr="폰트, 화이트, 타이포그래피이(가) 표시된 사진&#10;&#10;자동 생성된 설명">
            <a:extLst>
              <a:ext uri="{FF2B5EF4-FFF2-40B4-BE49-F238E27FC236}">
                <a16:creationId xmlns:a16="http://schemas.microsoft.com/office/drawing/2014/main" id="{7A7FCB16-9823-6EE6-3B65-0D4BA166F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02" y="3116021"/>
            <a:ext cx="7392015" cy="2326311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AB673A-ED02-50B1-6B0A-942D3B6C40C0}"/>
              </a:ext>
            </a:extLst>
          </p:cNvPr>
          <p:cNvSpPr/>
          <p:nvPr/>
        </p:nvSpPr>
        <p:spPr>
          <a:xfrm>
            <a:off x="3207542" y="3932908"/>
            <a:ext cx="1507677" cy="43856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C890E7-187C-BC24-C0B3-D193EDE30563}"/>
              </a:ext>
            </a:extLst>
          </p:cNvPr>
          <p:cNvSpPr/>
          <p:nvPr/>
        </p:nvSpPr>
        <p:spPr>
          <a:xfrm>
            <a:off x="3240592" y="3362898"/>
            <a:ext cx="1474627" cy="438565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E55340-87D7-A1BA-A35F-9C6A78E3C73C}"/>
              </a:ext>
            </a:extLst>
          </p:cNvPr>
          <p:cNvSpPr/>
          <p:nvPr/>
        </p:nvSpPr>
        <p:spPr>
          <a:xfrm>
            <a:off x="3240592" y="4502918"/>
            <a:ext cx="1474627" cy="43856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43C1D8-8AFC-131A-1C03-3D1DA195BABA}"/>
              </a:ext>
            </a:extLst>
          </p:cNvPr>
          <p:cNvSpPr/>
          <p:nvPr/>
        </p:nvSpPr>
        <p:spPr>
          <a:xfrm>
            <a:off x="5689386" y="3362898"/>
            <a:ext cx="1507677" cy="438565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68738B4-9F68-E058-40F5-55315B09EB7A}"/>
              </a:ext>
            </a:extLst>
          </p:cNvPr>
          <p:cNvSpPr/>
          <p:nvPr/>
        </p:nvSpPr>
        <p:spPr>
          <a:xfrm>
            <a:off x="5705912" y="3932908"/>
            <a:ext cx="1474627" cy="438565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8DC4D9-1DF1-871A-F9DD-CF2492F8A43C}"/>
              </a:ext>
            </a:extLst>
          </p:cNvPr>
          <p:cNvSpPr/>
          <p:nvPr/>
        </p:nvSpPr>
        <p:spPr>
          <a:xfrm>
            <a:off x="5705912" y="4502918"/>
            <a:ext cx="1474627" cy="43856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887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How to use Permutation Matrices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177CBE-CC25-5912-155A-49DE161E636F}"/>
              </a:ext>
            </a:extLst>
          </p:cNvPr>
          <p:cNvSpPr txBox="1"/>
          <p:nvPr/>
        </p:nvSpPr>
        <p:spPr>
          <a:xfrm>
            <a:off x="273844" y="1046998"/>
            <a:ext cx="115582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" altLang="ko-Kore-KR" sz="2000" dirty="0"/>
              <a:t>𝐴 × 𝑃 is a column permutation </a:t>
            </a:r>
          </a:p>
          <a:p>
            <a:pPr>
              <a:defRPr/>
            </a:pPr>
            <a:r>
              <a:rPr lang="en" altLang="ko-Kore-KR" sz="2000" dirty="0"/>
              <a:t>• This will rearrange the columns of A </a:t>
            </a:r>
          </a:p>
          <a:p>
            <a:pPr>
              <a:defRPr/>
            </a:pPr>
            <a:endParaRPr lang="en" altLang="ko-Kore-KR" sz="2000" dirty="0"/>
          </a:p>
          <a:p>
            <a:pPr>
              <a:defRPr/>
            </a:pPr>
            <a:r>
              <a:rPr lang="en" altLang="ko-Kore-KR" sz="2000" dirty="0"/>
              <a:t>If 𝑃 is a column permutation matrix, </a:t>
            </a:r>
          </a:p>
          <a:p>
            <a:pPr>
              <a:defRPr/>
            </a:pPr>
            <a:r>
              <a:rPr lang="en" altLang="ko-Kore-KR" sz="2000" dirty="0"/>
              <a:t>Then, if 𝑃𝑖,𝑗 = 1, column 𝑖 is moved to column j</a:t>
            </a:r>
            <a:endParaRPr lang="ko-KR" altLang="en-US" sz="2000" dirty="0">
              <a:solidFill>
                <a:prstClr val="black"/>
              </a:solidFill>
            </a:endParaRPr>
          </a:p>
        </p:txBody>
      </p:sp>
      <p:pic>
        <p:nvPicPr>
          <p:cNvPr id="2" name="그림 1" descr="폰트, 화이트, 타이포그래피이(가) 표시된 사진&#10;&#10;자동 생성된 설명">
            <a:extLst>
              <a:ext uri="{FF2B5EF4-FFF2-40B4-BE49-F238E27FC236}">
                <a16:creationId xmlns:a16="http://schemas.microsoft.com/office/drawing/2014/main" id="{7D015980-224E-7926-A210-FBE4F961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4" y="2847537"/>
            <a:ext cx="7863969" cy="2605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26BF5D-F5FC-CBA6-C758-38B71C4E119D}"/>
              </a:ext>
            </a:extLst>
          </p:cNvPr>
          <p:cNvSpPr txBox="1"/>
          <p:nvPr/>
        </p:nvSpPr>
        <p:spPr>
          <a:xfrm>
            <a:off x="649204" y="5442332"/>
            <a:ext cx="51166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000" dirty="0"/>
              <a:t>𝑝1,2 = 1, so column </a:t>
            </a:r>
            <a:r>
              <a:rPr lang="en-US" altLang="ko-KR" sz="2000" dirty="0"/>
              <a:t>1</a:t>
            </a:r>
            <a:r>
              <a:rPr lang="en" altLang="ko-Kore-KR" sz="2000" dirty="0"/>
              <a:t> goes to column </a:t>
            </a:r>
            <a:r>
              <a:rPr lang="en-US" altLang="ko-KR" sz="2000" dirty="0"/>
              <a:t>2</a:t>
            </a:r>
            <a:r>
              <a:rPr lang="en" altLang="ko-Kore-KR" sz="2000" dirty="0"/>
              <a:t> </a:t>
            </a:r>
          </a:p>
          <a:p>
            <a:r>
              <a:rPr lang="en" altLang="ko-Kore-KR" sz="2000" dirty="0"/>
              <a:t>𝑝2,</a:t>
            </a:r>
            <a:r>
              <a:rPr lang="en-US" altLang="ko-KR" sz="2000" dirty="0"/>
              <a:t>1</a:t>
            </a:r>
            <a:r>
              <a:rPr lang="en" altLang="ko-Kore-KR" sz="2000" dirty="0"/>
              <a:t> = 1, so column </a:t>
            </a:r>
            <a:r>
              <a:rPr lang="en-US" altLang="ko-KR" sz="2000" dirty="0"/>
              <a:t>2</a:t>
            </a:r>
            <a:r>
              <a:rPr lang="en" altLang="ko-Kore-KR" sz="2000" dirty="0"/>
              <a:t> goes to column </a:t>
            </a:r>
            <a:r>
              <a:rPr lang="en-US" altLang="ko-KR" sz="2000" dirty="0"/>
              <a:t>1</a:t>
            </a:r>
            <a:r>
              <a:rPr lang="en" altLang="ko-Kore-KR" sz="2000" dirty="0"/>
              <a:t> </a:t>
            </a:r>
          </a:p>
          <a:p>
            <a:r>
              <a:rPr lang="en" altLang="ko-Kore-KR" sz="2000" dirty="0"/>
              <a:t>𝑝3,</a:t>
            </a:r>
            <a:r>
              <a:rPr lang="en-US" altLang="ko-KR" sz="2000" dirty="0"/>
              <a:t>3</a:t>
            </a:r>
            <a:r>
              <a:rPr lang="en" altLang="ko-Kore-KR" sz="2000" dirty="0"/>
              <a:t>= 1, so column </a:t>
            </a:r>
            <a:r>
              <a:rPr lang="en-US" altLang="ko-KR" sz="2000" dirty="0"/>
              <a:t>3</a:t>
            </a:r>
            <a:r>
              <a:rPr lang="en" altLang="ko-Kore-KR" sz="2000" dirty="0"/>
              <a:t> goes to column 3 </a:t>
            </a:r>
            <a:endParaRPr lang="ko-Kore-KR" altLang="en-US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16EF63-235E-F5F8-E284-D7001DF668D2}"/>
              </a:ext>
            </a:extLst>
          </p:cNvPr>
          <p:cNvSpPr/>
          <p:nvPr/>
        </p:nvSpPr>
        <p:spPr>
          <a:xfrm>
            <a:off x="1503791" y="3296637"/>
            <a:ext cx="385591" cy="1707614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8AC61A-5EAD-AB9E-7EB7-A58601AA6469}"/>
              </a:ext>
            </a:extLst>
          </p:cNvPr>
          <p:cNvSpPr/>
          <p:nvPr/>
        </p:nvSpPr>
        <p:spPr>
          <a:xfrm>
            <a:off x="912564" y="3296637"/>
            <a:ext cx="387426" cy="1707614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ADBEAC-AEB5-3052-DE52-7085AC4B912A}"/>
              </a:ext>
            </a:extLst>
          </p:cNvPr>
          <p:cNvSpPr/>
          <p:nvPr/>
        </p:nvSpPr>
        <p:spPr>
          <a:xfrm>
            <a:off x="2093184" y="3274206"/>
            <a:ext cx="385592" cy="173004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35E3D1-152B-8CBA-49E0-EADB8BBEFFDE}"/>
              </a:ext>
            </a:extLst>
          </p:cNvPr>
          <p:cNvSpPr/>
          <p:nvPr/>
        </p:nvSpPr>
        <p:spPr>
          <a:xfrm>
            <a:off x="6001953" y="3319428"/>
            <a:ext cx="385591" cy="1707614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9A897-DD00-8A5F-274A-8349D0CCB389}"/>
              </a:ext>
            </a:extLst>
          </p:cNvPr>
          <p:cNvSpPr/>
          <p:nvPr/>
        </p:nvSpPr>
        <p:spPr>
          <a:xfrm>
            <a:off x="6588052" y="3322779"/>
            <a:ext cx="387426" cy="1707614"/>
          </a:xfrm>
          <a:prstGeom prst="rect">
            <a:avLst/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465D3A-2161-EDDA-3BEF-09BB3DAE3AFF}"/>
              </a:ext>
            </a:extLst>
          </p:cNvPr>
          <p:cNvSpPr/>
          <p:nvPr/>
        </p:nvSpPr>
        <p:spPr>
          <a:xfrm>
            <a:off x="7177446" y="3296997"/>
            <a:ext cx="385592" cy="1730045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462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Example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3BE09-9632-FB61-0B62-E9BAB87E1BF1}"/>
                  </a:ext>
                </a:extLst>
              </p:cNvPr>
              <p:cNvSpPr txBox="1"/>
              <p:nvPr/>
            </p:nvSpPr>
            <p:spPr>
              <a:xfrm>
                <a:off x="2093204" y="1055703"/>
                <a:ext cx="883255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3BE09-9632-FB61-0B62-E9BAB87E1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204" y="1055703"/>
                <a:ext cx="883255" cy="1139414"/>
              </a:xfrm>
              <a:prstGeom prst="rect">
                <a:avLst/>
              </a:prstGeom>
              <a:blipFill>
                <a:blip r:embed="rId2"/>
                <a:stretch>
                  <a:fillRect l="-7042" r="-7042" b="-10000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B2E5D4-59BB-35BF-27E9-04B5F57EA73C}"/>
                  </a:ext>
                </a:extLst>
              </p:cNvPr>
              <p:cNvSpPr txBox="1"/>
              <p:nvPr/>
            </p:nvSpPr>
            <p:spPr>
              <a:xfrm>
                <a:off x="8686661" y="1046918"/>
                <a:ext cx="883255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B2E5D4-59BB-35BF-27E9-04B5F57EA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661" y="1046918"/>
                <a:ext cx="883255" cy="1148199"/>
              </a:xfrm>
              <a:prstGeom prst="rect">
                <a:avLst/>
              </a:prstGeom>
              <a:blipFill>
                <a:blip r:embed="rId3"/>
                <a:stretch>
                  <a:fillRect l="-7143" r="-5714" b="-1098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8C8B380-A6E6-9114-A6FA-EA9EB200EC71}"/>
              </a:ext>
            </a:extLst>
          </p:cNvPr>
          <p:cNvSpPr txBox="1"/>
          <p:nvPr/>
        </p:nvSpPr>
        <p:spPr>
          <a:xfrm>
            <a:off x="3159086" y="1440744"/>
            <a:ext cx="552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/>
              <a:t>create a matrix product which results in the matrix</a:t>
            </a:r>
            <a:endParaRPr lang="ko-Kore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D44C2-F38D-7D4F-0DC3-75FA5AC1792D}"/>
              </a:ext>
            </a:extLst>
          </p:cNvPr>
          <p:cNvSpPr txBox="1"/>
          <p:nvPr/>
        </p:nvSpPr>
        <p:spPr>
          <a:xfrm>
            <a:off x="273844" y="3107214"/>
            <a:ext cx="6578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/>
              <a:t>1. Rows have been rearranged, so we are looking for P × A</a:t>
            </a:r>
            <a:endParaRPr lang="ko-Kore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B56E3-E032-88DB-664E-6AF5360A2DB2}"/>
              </a:ext>
            </a:extLst>
          </p:cNvPr>
          <p:cNvSpPr txBox="1"/>
          <p:nvPr/>
        </p:nvSpPr>
        <p:spPr>
          <a:xfrm>
            <a:off x="319087" y="2487145"/>
            <a:ext cx="1907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800" b="1" dirty="0"/>
              <a:t>Solution</a:t>
            </a:r>
            <a:endParaRPr lang="ko-Kore-KR" altLang="en-US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2258E-3046-4A5C-7348-8AF76ECEBCA3}"/>
              </a:ext>
            </a:extLst>
          </p:cNvPr>
          <p:cNvSpPr txBox="1"/>
          <p:nvPr/>
        </p:nvSpPr>
        <p:spPr>
          <a:xfrm>
            <a:off x="311740" y="3563873"/>
            <a:ext cx="6005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/>
              <a:t>2. Since A is (3 × 2) , so since P is square P is a (3 × 3) </a:t>
            </a:r>
            <a:endParaRPr lang="ko-Kore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CCCFF-EED6-7950-AF7A-EDEA700CE5BC}"/>
              </a:ext>
            </a:extLst>
          </p:cNvPr>
          <p:cNvSpPr txBox="1"/>
          <p:nvPr/>
        </p:nvSpPr>
        <p:spPr>
          <a:xfrm>
            <a:off x="319087" y="4142086"/>
            <a:ext cx="51166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000" dirty="0"/>
              <a:t>3.</a:t>
            </a:r>
          </a:p>
          <a:p>
            <a:r>
              <a:rPr lang="en" altLang="ko-Kore-KR" sz="2000" dirty="0"/>
              <a:t>row 1 goes to row 2, So 𝑝2,</a:t>
            </a:r>
            <a:r>
              <a:rPr lang="en-US" altLang="ko-KR" sz="2000" dirty="0"/>
              <a:t>1</a:t>
            </a:r>
            <a:r>
              <a:rPr lang="en" altLang="ko-Kore-KR" sz="2000" dirty="0"/>
              <a:t> = 1</a:t>
            </a:r>
          </a:p>
          <a:p>
            <a:r>
              <a:rPr lang="en" altLang="ko-Kore-KR" sz="2000" dirty="0"/>
              <a:t>row 2 goes to row 3, So 𝑝3,</a:t>
            </a:r>
            <a:r>
              <a:rPr lang="en-US" altLang="ko-Kore-KR" sz="2000" dirty="0"/>
              <a:t>2</a:t>
            </a:r>
            <a:r>
              <a:rPr lang="en" altLang="ko-Kore-KR" sz="2000" dirty="0"/>
              <a:t> = 1 </a:t>
            </a:r>
          </a:p>
          <a:p>
            <a:r>
              <a:rPr lang="en" altLang="ko-Kore-KR" sz="2000" dirty="0"/>
              <a:t>row 3 goes to row 1, So 𝑝1,</a:t>
            </a:r>
            <a:r>
              <a:rPr lang="en-US" altLang="ko-Kore-KR" sz="2000" dirty="0"/>
              <a:t>3</a:t>
            </a:r>
            <a:r>
              <a:rPr lang="en" altLang="ko-Kore-KR" sz="2000" dirty="0"/>
              <a:t> = 1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991908-A6AE-A88E-D96F-749C6A394218}"/>
              </a:ext>
            </a:extLst>
          </p:cNvPr>
          <p:cNvSpPr txBox="1"/>
          <p:nvPr/>
        </p:nvSpPr>
        <p:spPr>
          <a:xfrm>
            <a:off x="273844" y="965001"/>
            <a:ext cx="1819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800" b="1" dirty="0"/>
              <a:t>Question.</a:t>
            </a:r>
            <a:endParaRPr lang="ko-Kore-KR" altLang="en-US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B74E6-1AD6-6620-F429-3394CBC553E7}"/>
              </a:ext>
            </a:extLst>
          </p:cNvPr>
          <p:cNvSpPr txBox="1"/>
          <p:nvPr/>
        </p:nvSpPr>
        <p:spPr>
          <a:xfrm>
            <a:off x="5487318" y="4773684"/>
            <a:ext cx="1268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400" b="1" dirty="0"/>
              <a:t>So P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B2C222-FE3E-63A6-B5DF-FCF643B179D9}"/>
                  </a:ext>
                </a:extLst>
              </p:cNvPr>
              <p:cNvSpPr txBox="1"/>
              <p:nvPr/>
            </p:nvSpPr>
            <p:spPr>
              <a:xfrm>
                <a:off x="6756239" y="4109207"/>
                <a:ext cx="2148289" cy="1790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4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R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4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B2C222-FE3E-63A6-B5DF-FCF643B17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39" y="4109207"/>
                <a:ext cx="2148289" cy="1790618"/>
              </a:xfrm>
              <a:prstGeom prst="rect">
                <a:avLst/>
              </a:prstGeom>
              <a:blipFill>
                <a:blip r:embed="rId4"/>
                <a:stretch>
                  <a:fillRect l="-6433" r="-6433" b="-1056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63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57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Example</a:t>
            </a:r>
          </a:p>
          <a:p>
            <a:pPr latinLnBrk="0">
              <a:defRPr/>
            </a:pPr>
            <a:r>
              <a:rPr lang="en-US" altLang="ko-KR" sz="800" kern="0" dirty="0">
                <a:solidFill>
                  <a:srgbClr val="44546A">
                    <a:lumMod val="40000"/>
                    <a:lumOff val="60000"/>
                  </a:srgbClr>
                </a:solidFill>
              </a:rPr>
              <a:t>Enjoy your stylish business and campus life with BIZCAM</a:t>
            </a:r>
            <a:endParaRPr lang="ko-KR" altLang="en-US" dirty="0">
              <a:solidFill>
                <a:srgbClr val="44546A">
                  <a:lumMod val="40000"/>
                  <a:lumOff val="60000"/>
                </a:srgb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3BE09-9632-FB61-0B62-E9BAB87E1BF1}"/>
                  </a:ext>
                </a:extLst>
              </p:cNvPr>
              <p:cNvSpPr txBox="1"/>
              <p:nvPr/>
            </p:nvSpPr>
            <p:spPr>
              <a:xfrm>
                <a:off x="2093204" y="1055703"/>
                <a:ext cx="883255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3BE09-9632-FB61-0B62-E9BAB87E1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204" y="1055703"/>
                <a:ext cx="883255" cy="1139414"/>
              </a:xfrm>
              <a:prstGeom prst="rect">
                <a:avLst/>
              </a:prstGeom>
              <a:blipFill>
                <a:blip r:embed="rId2"/>
                <a:stretch>
                  <a:fillRect l="-7042" r="-7042" b="-10000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B2E5D4-59BB-35BF-27E9-04B5F57EA73C}"/>
                  </a:ext>
                </a:extLst>
              </p:cNvPr>
              <p:cNvSpPr txBox="1"/>
              <p:nvPr/>
            </p:nvSpPr>
            <p:spPr>
              <a:xfrm>
                <a:off x="8686661" y="1046918"/>
                <a:ext cx="883255" cy="1148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US" altLang="ko-Kore-KR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kumimoji="1" lang="en-US" altLang="ko-Kore-KR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</m:m>
                    </m:oMath>
                  </m:oMathPara>
                </a14:m>
                <a:endParaRPr kumimoji="1" lang="ko-Kore-KR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B2E5D4-59BB-35BF-27E9-04B5F57EA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661" y="1046918"/>
                <a:ext cx="883255" cy="1148199"/>
              </a:xfrm>
              <a:prstGeom prst="rect">
                <a:avLst/>
              </a:prstGeom>
              <a:blipFill>
                <a:blip r:embed="rId3"/>
                <a:stretch>
                  <a:fillRect l="-7143" r="-5714" b="-1098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8C8B380-A6E6-9114-A6FA-EA9EB200EC71}"/>
              </a:ext>
            </a:extLst>
          </p:cNvPr>
          <p:cNvSpPr txBox="1"/>
          <p:nvPr/>
        </p:nvSpPr>
        <p:spPr>
          <a:xfrm>
            <a:off x="3159086" y="1440744"/>
            <a:ext cx="552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/>
              <a:t>create a matrix product which results in the matrix</a:t>
            </a:r>
            <a:endParaRPr lang="ko-Kore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991908-A6AE-A88E-D96F-749C6A394218}"/>
              </a:ext>
            </a:extLst>
          </p:cNvPr>
          <p:cNvSpPr txBox="1"/>
          <p:nvPr/>
        </p:nvSpPr>
        <p:spPr>
          <a:xfrm>
            <a:off x="273844" y="965001"/>
            <a:ext cx="1819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800" b="1" dirty="0"/>
              <a:t>Question.</a:t>
            </a:r>
            <a:endParaRPr lang="ko-Kore-KR" alt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CD40CD-45CE-FA40-AD5A-86A11F256A26}"/>
              </a:ext>
            </a:extLst>
          </p:cNvPr>
          <p:cNvSpPr txBox="1"/>
          <p:nvPr/>
        </p:nvSpPr>
        <p:spPr>
          <a:xfrm>
            <a:off x="273844" y="2980971"/>
            <a:ext cx="8052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1800" b="1" dirty="0"/>
              <a:t>To recalculate separately to see if a calculation is correct or incorrect</a:t>
            </a:r>
            <a:endParaRPr lang="ko-Kore-KR" altLang="en-US" sz="1800" b="1" dirty="0"/>
          </a:p>
        </p:txBody>
      </p:sp>
      <p:pic>
        <p:nvPicPr>
          <p:cNvPr id="4" name="그림 3" descr="폰트, 친필, 화이트, 타이포그래피이(가) 표시된 사진&#10;&#10;자동 생성된 설명">
            <a:extLst>
              <a:ext uri="{FF2B5EF4-FFF2-40B4-BE49-F238E27FC236}">
                <a16:creationId xmlns:a16="http://schemas.microsoft.com/office/drawing/2014/main" id="{EA440965-DBB8-46E6-4D3D-09CB6D264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9" y="3603859"/>
            <a:ext cx="5235475" cy="2384745"/>
          </a:xfrm>
          <a:prstGeom prst="rect">
            <a:avLst/>
          </a:prstGeom>
        </p:spPr>
      </p:pic>
      <p:pic>
        <p:nvPicPr>
          <p:cNvPr id="7" name="그림 6" descr="폰트, 번호, 화이트, 원이(가) 표시된 사진&#10;&#10;자동 생성된 설명">
            <a:extLst>
              <a:ext uri="{FF2B5EF4-FFF2-40B4-BE49-F238E27FC236}">
                <a16:creationId xmlns:a16="http://schemas.microsoft.com/office/drawing/2014/main" id="{68AC4F58-D0E7-AD33-C4C8-AE63B8FDDC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432" y="3699461"/>
            <a:ext cx="2039990" cy="21935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535F64-EACA-8186-D71A-5783F39BE634}"/>
              </a:ext>
            </a:extLst>
          </p:cNvPr>
          <p:cNvSpPr txBox="1"/>
          <p:nvPr/>
        </p:nvSpPr>
        <p:spPr>
          <a:xfrm>
            <a:off x="6018510" y="4503842"/>
            <a:ext cx="43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3200" b="1" dirty="0"/>
              <a:t>=</a:t>
            </a:r>
            <a:endParaRPr lang="en" altLang="ko-Kore-KR" sz="3200" b="1" dirty="0"/>
          </a:p>
        </p:txBody>
      </p:sp>
    </p:spTree>
    <p:extLst>
      <p:ext uri="{BB962C8B-B14F-4D97-AF65-F5344CB8AC3E}">
        <p14:creationId xmlns:p14="http://schemas.microsoft.com/office/powerpoint/2010/main" val="159905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5419266" y="2727208"/>
            <a:ext cx="4358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ore-KR" sz="5400" dirty="0">
                <a:solidFill>
                  <a:srgbClr val="0D0D0D"/>
                </a:solidFill>
                <a:latin typeface="Times New Roman" panose="02020603050405020304" pitchFamily="18" charset="0"/>
              </a:rPr>
              <a:t>P</a:t>
            </a:r>
            <a:r>
              <a:rPr lang="en" altLang="ko-Kore-KR" sz="5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</a:rPr>
              <a:t>A= LU Factorization</a:t>
            </a:r>
            <a:endParaRPr lang="en-US" altLang="ko-KR" sz="5400" i="1" kern="0" dirty="0">
              <a:ln w="12700">
                <a:noFill/>
              </a:ln>
              <a:solidFill>
                <a:srgbClr val="44546A">
                  <a:lumMod val="75000"/>
                </a:srgbClr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5343066" y="2491151"/>
            <a:ext cx="0" cy="2268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83E8C32-1FBE-6134-D183-39693B99C7D5}"/>
              </a:ext>
            </a:extLst>
          </p:cNvPr>
          <p:cNvSpPr txBox="1"/>
          <p:nvPr/>
        </p:nvSpPr>
        <p:spPr>
          <a:xfrm>
            <a:off x="573756" y="2193990"/>
            <a:ext cx="44916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6000" kern="0" dirty="0" err="1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ea typeface="Tmon몬소리 Black" panose="02000A03000000000000" pitchFamily="2" charset="-127"/>
              </a:rPr>
              <a:t>SongJaeMin</a:t>
            </a:r>
            <a:endParaRPr lang="en-US" altLang="ko-KR" sz="6000" kern="0" dirty="0">
              <a:ln w="12700">
                <a:noFill/>
              </a:ln>
              <a:solidFill>
                <a:prstClr val="white">
                  <a:lumMod val="75000"/>
                </a:prstClr>
              </a:solidFill>
              <a:ea typeface="Tmon몬소리 Black" panose="02000A03000000000000" pitchFamily="2" charset="-127"/>
            </a:endParaRPr>
          </a:p>
          <a:p>
            <a:pPr algn="r">
              <a:defRPr/>
            </a:pPr>
            <a:r>
              <a:rPr lang="en-US" altLang="ko-KR" sz="60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ea typeface="Tmon몬소리 Black" panose="02000A03000000000000" pitchFamily="2" charset="-127"/>
              </a:rPr>
              <a:t>Software</a:t>
            </a:r>
          </a:p>
          <a:p>
            <a:pPr algn="r">
              <a:defRPr/>
            </a:pPr>
            <a:r>
              <a:rPr lang="en-US" altLang="ko-KR" sz="60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ea typeface="Tmon몬소리 Black" panose="02000A03000000000000" pitchFamily="2" charset="-127"/>
              </a:rPr>
              <a:t>19011653</a:t>
            </a:r>
          </a:p>
        </p:txBody>
      </p:sp>
    </p:spTree>
    <p:extLst>
      <p:ext uri="{BB962C8B-B14F-4D97-AF65-F5344CB8AC3E}">
        <p14:creationId xmlns:p14="http://schemas.microsoft.com/office/powerpoint/2010/main" val="137678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8073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What is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PA=LU Factorization and how to apply</a:t>
            </a:r>
            <a:endParaRPr lang="en-US" altLang="ko-KR" sz="2800" i="1" kern="0" dirty="0">
              <a:ln w="12700">
                <a:noFill/>
              </a:ln>
              <a:solidFill>
                <a:srgbClr val="44546A">
                  <a:lumMod val="75000"/>
                </a:srgbClr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74226B3-5AD4-C8F5-4DDF-A239A200A377}"/>
              </a:ext>
            </a:extLst>
          </p:cNvPr>
          <p:cNvSpPr txBox="1"/>
          <p:nvPr/>
        </p:nvSpPr>
        <p:spPr>
          <a:xfrm>
            <a:off x="319087" y="1677880"/>
            <a:ext cx="10054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This is the matrix </a:t>
            </a:r>
            <a:r>
              <a:rPr lang="en" altLang="ko-Kore-KR" dirty="0"/>
              <a:t>This is the matrix formulation of elimination with partial pivoting. </a:t>
            </a:r>
          </a:p>
          <a:p>
            <a:r>
              <a:rPr lang="en" altLang="ko-Kore-KR" dirty="0"/>
              <a:t>The PA= LU factorization is the established workhorse for solving systems of linear equations.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24B01-6377-B732-2D55-17F101B886BD}"/>
              </a:ext>
            </a:extLst>
          </p:cNvPr>
          <p:cNvSpPr txBox="1"/>
          <p:nvPr/>
        </p:nvSpPr>
        <p:spPr>
          <a:xfrm>
            <a:off x="319087" y="2575434"/>
            <a:ext cx="950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dirty="0"/>
              <a:t>The PA= LU factorization is simply the LU factorization of a row-exchanged version of A.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81FAFA-D215-7A56-8F43-D3C3F4FA190E}"/>
              </a:ext>
            </a:extLst>
          </p:cNvPr>
          <p:cNvSpPr txBox="1"/>
          <p:nvPr/>
        </p:nvSpPr>
        <p:spPr>
          <a:xfrm>
            <a:off x="319087" y="4434450"/>
            <a:ext cx="10736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dirty="0"/>
              <a:t>instead of putting only a zero in the eliminated position, we have made the zero a storage location.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C17C5-604C-4589-DA87-17244D9DF912}"/>
              </a:ext>
            </a:extLst>
          </p:cNvPr>
          <p:cNvSpPr txBox="1"/>
          <p:nvPr/>
        </p:nvSpPr>
        <p:spPr>
          <a:xfrm>
            <a:off x="319087" y="4995454"/>
            <a:ext cx="10930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dirty="0"/>
              <a:t>Inside the zero at the (𝑖,𝑗) position, we store the multiplier 𝑚𝑖𝑗 that we used to eliminate that position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2CDAA-72DA-B065-5C65-C67AE44B9A65}"/>
              </a:ext>
            </a:extLst>
          </p:cNvPr>
          <p:cNvSpPr txBox="1"/>
          <p:nvPr/>
        </p:nvSpPr>
        <p:spPr>
          <a:xfrm>
            <a:off x="319087" y="5528033"/>
            <a:ext cx="890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ore-KR" dirty="0"/>
              <a:t>You can easily perform LU decomposition using the numbers written in place of 0 </a:t>
            </a:r>
          </a:p>
          <a:p>
            <a:r>
              <a:rPr kumimoji="1" lang="en" altLang="ko-Kore-KR" dirty="0"/>
              <a:t>and the numbers obtained by performing partial pivoting.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54067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31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do the following PA=LU </a:t>
            </a:r>
            <a:r>
              <a:rPr lang="en-US" altLang="ko-KR" sz="3200" i="1" kern="0" dirty="0">
                <a:ln w="12700"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Factorization</a:t>
            </a:r>
            <a:r>
              <a:rPr lang="en-US" altLang="ko-KR" sz="31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29E7926-FBB1-8D99-F1E6-542FECD8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04" y="1697524"/>
            <a:ext cx="2092471" cy="9939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079E4C-C798-B109-FE04-C06A74451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36" y="2691447"/>
            <a:ext cx="5146054" cy="12865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CF65256-9692-9ACB-2094-66CF44077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36" y="4686552"/>
            <a:ext cx="6854642" cy="993922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460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28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do the following PA=LU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Factorization</a:t>
            </a:r>
            <a:r>
              <a:rPr lang="en-US" altLang="ko-KR" sz="28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433DB6-EC07-5D83-1F7E-20F9FD34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4493504"/>
            <a:ext cx="5131088" cy="13982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4042728-7FC1-9BFA-14E8-D62BF5E0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15" y="2088883"/>
            <a:ext cx="5131087" cy="157780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4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28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do the following PA=LU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Factorization</a:t>
            </a:r>
            <a:r>
              <a:rPr lang="en-US" altLang="ko-KR" sz="2800" i="1" dirty="0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B95B6FC-73ED-DFA6-12EA-F7AF383E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6" y="3867755"/>
            <a:ext cx="6849838" cy="157546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D1A63A9-3CD8-4398-DD3C-2D1C68EE0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6" y="1668156"/>
            <a:ext cx="2822915" cy="192663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6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19087" y="231344"/>
            <a:ext cx="6296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Let’s solve linear equation</a:t>
            </a:r>
            <a:endParaRPr lang="en-US" altLang="ko-KR" sz="2800" i="1" kern="0" dirty="0">
              <a:ln w="12700">
                <a:noFill/>
              </a:ln>
              <a:solidFill>
                <a:srgbClr val="44546A">
                  <a:lumMod val="75000"/>
                </a:srgbClr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88198312-5E7D-004C-2FE7-63F7DAC6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05" y="2347924"/>
            <a:ext cx="3887871" cy="153584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9D854F-AC6F-5A37-F056-4CB542B34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05" y="1108749"/>
            <a:ext cx="1016000" cy="355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CAB17DE-C8A6-0473-91BF-395DF2E74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05" y="4767340"/>
            <a:ext cx="4191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56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4000" i="1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solve linear equation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3FF7AB-4B8D-619D-0E65-D5D77AD12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7" y="1863865"/>
            <a:ext cx="3238707" cy="10282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0707ACD-BE1F-C706-71AD-1FB0D7134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15" y="3346107"/>
            <a:ext cx="6742877" cy="10282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F2427A-386F-BB16-0713-DBE483568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15" y="4709092"/>
            <a:ext cx="10032113" cy="1028287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056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662180" y="2862471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sz="4000" i="1">
                <a:ln w="12700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solve linear equation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63B373-8CCA-6FED-5019-68CA7C578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197" y="3874986"/>
            <a:ext cx="3387578" cy="194785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F77B6C5-0EA9-4584-43D0-F279DD98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040" y="1775328"/>
            <a:ext cx="3419533" cy="1453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1DE0AB5-B221-E21E-F42F-82707713C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684" y="247404"/>
            <a:ext cx="4689917" cy="87935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738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9701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614</Words>
  <Application>Microsoft Macintosh PowerPoint</Application>
  <PresentationFormat>와이드스크린</PresentationFormat>
  <Paragraphs>82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Tmon몬소리 Black</vt:lpstr>
      <vt:lpstr>Arial</vt:lpstr>
      <vt:lpstr>Cambria Math</vt:lpstr>
      <vt:lpstr>Times New Roman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송재민</cp:lastModifiedBy>
  <cp:revision>14</cp:revision>
  <dcterms:created xsi:type="dcterms:W3CDTF">2023-03-22T09:39:48Z</dcterms:created>
  <dcterms:modified xsi:type="dcterms:W3CDTF">2023-05-28T04:14:31Z</dcterms:modified>
</cp:coreProperties>
</file>